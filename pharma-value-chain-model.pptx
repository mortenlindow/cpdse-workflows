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26E7C"/>
          </a:solidFill>
          <a:ln w="12700">
            <a:solidFill>
              <a:srgbClr val="026E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E8EDF6"/>
                </a:solidFill>
              </a:rPr>
              <a:t>CPDSE · Centre for Pharmaceutical Data Science Education · UCPH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Pharma Value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 Model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DF0F3"/>
                </a:solidFill>
              </a:rPr>
              <a:t>DS Methods &amp; Tools · Reference v0.7.0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611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6"/>
                </a:solidFill>
              </a:rPr>
              <a:t>Internal teaching resource · 2-tier linear model · 14 substeps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Pre-clinical  ·  Clinical Development  ·  On-Market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270"/>
                </a:solidFill>
              </a:rPr>
              <a:t>2-tier · 3 top-tier steps · 14 substeps · Linear from disease understanding to market access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2788920" cy="475488"/>
          </a:xfrm>
          <a:prstGeom prst="rect">
            <a:avLst/>
          </a:prstGeom>
          <a:solidFill>
            <a:srgbClr val="1C2E5E"/>
          </a:solidFill>
          <a:ln w="12700">
            <a:solidFill>
              <a:srgbClr val="1C2E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5156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</a:rPr>
              <a:t>1 · PRE-CLINICAL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527048"/>
            <a:ext cx="2788920" cy="3822192"/>
          </a:xfrm>
          <a:prstGeom prst="rect">
            <a:avLst/>
          </a:prstGeom>
          <a:solidFill>
            <a:srgbClr val="E8EDF6"/>
          </a:solidFill>
          <a:ln w="9525">
            <a:solidFill>
              <a:srgbClr val="1C2E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36776"/>
            <a:ext cx="2624328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1.  Disease Understanding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2.  Target Identification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3.  Modality Selection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4.  Lead Identification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5.  Lead Optimisation &amp; Candidate Selection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6.  Nonclinical Safety &amp; DMPK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7.  Formulation &amp; Drug Product Development (CMC)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051560"/>
            <a:ext cx="2788920" cy="475488"/>
          </a:xfrm>
          <a:prstGeom prst="rect">
            <a:avLst/>
          </a:prstGeom>
          <a:solidFill>
            <a:srgbClr val="026E7C"/>
          </a:solidFill>
          <a:ln w="12700">
            <a:solidFill>
              <a:srgbClr val="026E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05156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</a:rPr>
              <a:t>2 · CLINICAL DEVELOPMENT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527048"/>
            <a:ext cx="2788920" cy="3822192"/>
          </a:xfrm>
          <a:prstGeom prst="rect">
            <a:avLst/>
          </a:prstGeom>
          <a:solidFill>
            <a:srgbClr val="DDF0F3"/>
          </a:solidFill>
          <a:ln w="9525">
            <a:solidFill>
              <a:srgbClr val="026E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636776"/>
            <a:ext cx="2624328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1.  Biomarker Development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2.  Clinical Pharmacology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3.  Phase I / II / III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4.  Regulatory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53328" y="1051560"/>
            <a:ext cx="2834640" cy="475488"/>
          </a:xfrm>
          <a:prstGeom prst="rect">
            <a:avLst/>
          </a:prstGeom>
          <a:solidFill>
            <a:srgbClr val="A85A08"/>
          </a:solidFill>
          <a:ln w="12700">
            <a:solidFill>
              <a:srgbClr val="A85A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10515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</a:rPr>
              <a:t>3 · ON-MARKET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53328" y="1527048"/>
            <a:ext cx="2834640" cy="3822192"/>
          </a:xfrm>
          <a:prstGeom prst="rect">
            <a:avLst/>
          </a:prstGeom>
          <a:solidFill>
            <a:srgbClr val="FDF0E3"/>
          </a:solidFill>
          <a:ln w="9525">
            <a:solidFill>
              <a:srgbClr val="A85A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636776"/>
            <a:ext cx="2670048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1.  Manufacturing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2.  Market Access (HEOR)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1F3A"/>
                </a:solidFill>
              </a:rPr>
              <a:t>3.  Pharmacoepidemiology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44952" y="1106424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97B0"/>
                </a:solidFill>
              </a:rPr>
              <a:t>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0" y="1106424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97B0"/>
                </a:solidFill>
              </a:rPr>
              <a:t>›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8EDF6"/>
                </a:solidFill>
              </a:rPr>
              <a:t>STEP 1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PRE-CLINICAL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8EDF6"/>
                </a:solidFill>
              </a:rPr>
              <a:t>From disease understanding to a nominated development candidate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32120" y="365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EDF6"/>
                </a:solidFill>
              </a:rPr>
              <a:t>Substeps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32120" y="731520"/>
            <a:ext cx="340156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1  Disease Understanding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2  Target Identification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3  Modality Selection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4  Lead Identification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5  Lead Optimisation &amp; Candidate Selection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6  Nonclinical Safety &amp; DMPK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7  Formulation &amp; Drug Product Development (CMC)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8A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5E"/>
          </a:solidFill>
          <a:ln w="12700">
            <a:solidFill>
              <a:srgbClr val="1C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C2E5E"/>
                </a:solidFill>
              </a:rPr>
              <a:t>PRE-CLINICAL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 Understanding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What is the disease, who does it affect, and where is the unmet medical need that a new therapy could address?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Where is the unmet medical need?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is the pathophysiology?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Who are the patients?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tissue and cell types are involved?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molecular pathways are involved?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5E"/>
          </a:solidFill>
          <a:ln w="12700">
            <a:solidFill>
              <a:srgbClr val="1C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C2E5E"/>
                </a:solidFill>
              </a:rPr>
              <a:t>PRE-CLINICAL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Identification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Which biological targets are most likely to be causal for the disease of interest and tractable for drug intervention?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Are there genetic fingerprints (causal genetic signals) pointing to a target?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targets are already validated or being worked on?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disease models exist?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5E"/>
          </a:solidFill>
          <a:ln w="12700">
            <a:solidFill>
              <a:srgbClr val="1C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C2E5E"/>
                </a:solidFill>
              </a:rPr>
              <a:t>PRE-CLINICAL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Modality Selection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Given the target and what it takes to engage it, which therapeutic modality is the right one to pursue?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F3A"/>
                </a:solidFill>
              </a:rPr>
              <a:t>What makes a 'good' target?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F3A"/>
                </a:solidFill>
              </a:rPr>
              <a:t>Where is the target (tissue, cell, sub-cellular compartment)?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F3A"/>
                </a:solidFill>
              </a:rPr>
              <a:t>What type of molecule is the target?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F3A"/>
                </a:solidFill>
              </a:rPr>
              <a:t>What needs to happen to the target (inhibit, degrade, modulate, knock down)?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F3A"/>
                </a:solidFill>
              </a:rPr>
              <a:t>What can reach it?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F3A"/>
                </a:solidFill>
              </a:rPr>
              <a:t>Biomarker vs target — what are we actually acting on?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F3A"/>
                </a:solidFill>
              </a:rPr>
              <a:t>What modalities are available, and how mature are they?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F3A"/>
                </a:solidFill>
              </a:rPr>
              <a:t>What route of administration (RoA) would be best?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F3A"/>
                </a:solidFill>
              </a:rPr>
              <a:t>What duration of action (DoA) would be best?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F3A"/>
                </a:solidFill>
              </a:rPr>
              <a:t>What cost of goods (CoG) is acceptable?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F3A"/>
                </a:solidFill>
              </a:rPr>
              <a:t>How fast do we need to be? What is the competitive situation?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5E"/>
          </a:solidFill>
          <a:ln w="12700">
            <a:solidFill>
              <a:srgbClr val="1C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C2E5E"/>
                </a:solidFill>
              </a:rPr>
              <a:t>PRE-CLINICAL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Identification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Which compounds from a screening library or virtual space show genuine activity against the validated target?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 you confirm your lead hits are genuine and not artefacts?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 you handle screening at scale?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 you confirm selectivity across your hit series?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5E"/>
          </a:solidFill>
          <a:ln w="12700">
            <a:solidFill>
              <a:srgbClr val="1C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C2E5E"/>
                </a:solidFill>
              </a:rPr>
              <a:t>PRE-CLINICAL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Optimisation &amp; Candidate Selection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How do structural modifications improve a lead's safety, activity, selectivity, and ADMET — and which optimised compound is nominated as the development candidate?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potent does a starting compound need to be to be worth pursuing?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 you rank molecules across competing properties (potency vs. safety vs. PK vs. manufacturability)?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Does anything actually work in a test (in vitro / in vivo confirmation)?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is important in the in silico phase of the design process?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confident are we in each predicted property — what is the risk of late-stage failure?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Which single compound (or small set) do we nominate, and is there a credible backup?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5E"/>
          </a:solidFill>
          <a:ln w="12700">
            <a:solidFill>
              <a:srgbClr val="1C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C2E5E"/>
                </a:solidFill>
              </a:rPr>
              <a:t>PRE-CLINICAL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Nonclinical Safety &amp; DMPK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Does the candidate have an acceptable pharmacokinetic and safety profile in preclinical models to justify first-in-human dosing?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is the ADME profile (absorption, distribution, metabolism, excretion)?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is the safety margin between efficacious and toxic exposure?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 animal results translate to a predicted human dose and exposure?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are the dose-limiting toxicities, and which organs are at risk?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Is exposure at the intended site of action sufficient and sustained?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5E"/>
          </a:solidFill>
          <a:ln w="12700">
            <a:solidFill>
              <a:srgbClr val="1C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C2E5E"/>
                </a:solidFill>
              </a:rPr>
              <a:t>PRE-CLINICAL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Formulation &amp; Drug Product Development (CMC)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E8EDF6"/>
          </a:solidFill>
          <a:ln w="1270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How do we turn the development candidate into a stable, manufacturable drug product that delivers the right exposure by the intended route?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C2E5E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Which formulation and excipients give adequate solubility, bioavailability, and physical/chemical stability?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does the formulation affect in vivo exposure (and how do we predict it before dosing humans)?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is the shelf life, and which conditions limit it?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For the chosen route, what delivery system reaches the target tissue?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few experiments can establish a robust formulation design space?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6E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38A9E"/>
          </a:solidFill>
          <a:ln w="12700">
            <a:solidFill>
              <a:srgbClr val="038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DF0F3"/>
                </a:solidFill>
              </a:rPr>
              <a:t>STEP 2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DEVELOPMENT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DF0F3"/>
                </a:solidFill>
              </a:rPr>
              <a:t>Safety, dose selection, efficacy, and regulatory approval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32120" y="365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DF0F3"/>
                </a:solidFill>
              </a:rPr>
              <a:t>Substeps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32120" y="731520"/>
            <a:ext cx="340156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1  Biomarker Development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2  Clinical Pharmacology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3  Phase I / II / III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4  Regulatory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38A9E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6E7C"/>
          </a:solidFill>
          <a:ln w="12700">
            <a:solidFill>
              <a:srgbClr val="026E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DDF0F3"/>
          </a:solidFill>
          <a:ln w="12700">
            <a:solidFill>
              <a:srgbClr val="DDF0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26E7C"/>
                </a:solidFill>
              </a:rPr>
              <a:t>CLINICAL DEVELOPMENT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Biomarker Development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26E7C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DDF0F3"/>
          </a:solidFill>
          <a:ln w="12700">
            <a:solidFill>
              <a:srgbClr val="DDF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Which biological markers are validated and qualified to predict treatment response or stratify patients in the clinic?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26E7C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Which candidate markers track treatment response or progression in patients?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Is the biomarker analytically valid and reproducible across cohorts and platforms?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small a panel can we use while retaining predictive performance?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Does the biomarker actually predict the clinical endpoint, not merely correlate?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Is the biomarker qualified for its context of use (surrogate endpoint, companion diagnostic, enrichment)?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6E7C"/>
          </a:solidFill>
          <a:ln w="12700">
            <a:solidFill>
              <a:srgbClr val="026E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DDF0F3"/>
          </a:solidFill>
          <a:ln w="12700">
            <a:solidFill>
              <a:srgbClr val="DDF0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26E7C"/>
                </a:solidFill>
              </a:rPr>
              <a:t>CLINICAL DEVELOPMENT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Pharmacology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26E7C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DDF0F3"/>
          </a:solidFill>
          <a:ln w="12700">
            <a:solidFill>
              <a:srgbClr val="DDF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How does the drug behave in the body (PK) and what is the relationship between exposure and effect (PD)?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26E7C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dose and schedule produce the target exposure?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does exposure relate to both efficacy and toxicity (the therapeutic window)?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does PK vary across patients (covariates: weight, renal/hepatic function)?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Does the drug reach its site of action at adequate concentrations?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 we extrapolate from preclinical and early clinical data to the dose?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6E7C"/>
          </a:solidFill>
          <a:ln w="12700">
            <a:solidFill>
              <a:srgbClr val="026E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DDF0F3"/>
          </a:solidFill>
          <a:ln w="12700">
            <a:solidFill>
              <a:srgbClr val="DDF0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26E7C"/>
                </a:solidFill>
              </a:rPr>
              <a:t>CLINICAL DEVELOPMENT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 / II / III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26E7C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DDF0F3"/>
          </a:solidFill>
          <a:ln w="12700">
            <a:solidFill>
              <a:srgbClr val="DDF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Is the drug safe, and does it produce a clinically meaningful benefit in patients at a well-defined dose?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26E7C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is the safe, tolerable dose range and the recommended Phase 2 dose?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Does the drug show efficacy on clinical endpoints versus control?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Which patients respond best (subgroups, biomarkers)?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Is the trial adequately powered, and when should we look at the data?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Can the trial adapt (dose, sample size, stopping) on accumulating evidence?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6E7C"/>
          </a:solidFill>
          <a:ln w="12700">
            <a:solidFill>
              <a:srgbClr val="026E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DDF0F3"/>
          </a:solidFill>
          <a:ln w="12700">
            <a:solidFill>
              <a:srgbClr val="DDF0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26E7C"/>
                </a:solidFill>
              </a:rPr>
              <a:t>CLINICAL DEVELOPMENT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26E7C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DDF0F3"/>
          </a:solidFill>
          <a:ln w="12700">
            <a:solidFill>
              <a:srgbClr val="DDF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Can we assemble defensible, standards-compliant evidence that a regulator will accept to approve the drug?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26E7C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Do analyses meet regulatory statistical and data-standard requirements?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Are datasets traceable, reproducible, and submission-ready?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is the benefit–risk balance across the totality of evidence?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 we handle multiplicity, missing data, and sensitivity analyses defensibly?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Is the documentation complete and auditable?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A85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C96E0A"/>
          </a:solidFill>
          <a:ln w="12700">
            <a:solidFill>
              <a:srgbClr val="C96E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DF0E3"/>
                </a:solidFill>
              </a:rPr>
              <a:t>STEP 3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ON-MARKET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DF0E3"/>
                </a:solidFill>
              </a:rPr>
              <a:t>Manufacturing, market access, and post-market surveillance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32120" y="365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DF0E3"/>
                </a:solidFill>
              </a:rPr>
              <a:t>Substeps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32120" y="731520"/>
            <a:ext cx="340156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1  Manufacturing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2  Market Access (HEOR)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3  Pharmacoepidemiology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6E0A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5A08"/>
          </a:solidFill>
          <a:ln w="12700">
            <a:solidFill>
              <a:srgbClr val="A85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A85A08"/>
                </a:solidFill>
              </a:rPr>
              <a:t>ON-MARKET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5A08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Is the manufacturing process consistent, in control, and capable of producing product within specification at scale?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5A08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Is the process in a state of statistical control?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Which process parameters drive the critical quality attributes (CQAs)?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Can we predict and prevent out-of-specification batches?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 we ensure batch-to-batch consistency and yield?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Can quality be assessed in real time rather than only by end-product testing?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5A08"/>
          </a:solidFill>
          <a:ln w="12700">
            <a:solidFill>
              <a:srgbClr val="A85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A85A08"/>
                </a:solidFill>
              </a:rPr>
              <a:t>ON-MARKET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Access (HEOR)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5A08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Does the drug deliver enough value, at an acceptable cost, to justify reimbursement and adoption?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5A08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Is the drug cost-effective versus the current standard of care?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is the budget impact for a payer?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 trial outcomes translate to long-term and quality-of-life outcomes?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real-world evidence supports the value proposition?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does value vary across patient subgroups and jurisdictions?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5A08"/>
          </a:solidFill>
          <a:ln w="12700">
            <a:solidFill>
              <a:srgbClr val="A85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182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A85A08"/>
                </a:solidFill>
              </a:rPr>
              <a:t>ON-MARKET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55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Pharmacoepidemiology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832104"/>
            <a:ext cx="8577072" cy="0"/>
          </a:xfrm>
          <a:prstGeom prst="line">
            <a:avLst/>
          </a:prstGeom>
          <a:noFill/>
          <a:ln w="9525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5A08"/>
                </a:solidFill>
              </a:rPr>
              <a:t>PRIMARY DS QUESTION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77072" cy="96012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8266176" cy="960120"/>
          </a:xfrm>
          <a:prstGeom prst="rect">
            <a:avLst/>
          </a:prstGeom>
          <a:noFill/>
          <a:ln/>
        </p:spPr>
        <p:txBody>
          <a:bodyPr wrap="square" lIns="0" tIns="1778" rIns="1778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F3A"/>
                </a:solidFill>
              </a:rPr>
              <a:t>What are the real-world effects of drugs in defined patient populations?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5A08"/>
                </a:solidFill>
              </a:rPr>
              <a:t>KEY QUESTIONS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8412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What are the real-world effectiveness and safety in routine use?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Are there rare or long-term adverse effects not seen in trials?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 we control confounding in observational data?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How does the drug perform in subpopulations excluded from trials?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</a:rPr>
              <a:t>Are there emerging safety signals that warrant action?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97B0"/>
                </a:solidFill>
              </a:rPr>
              <a:t>CPDSE · Pharma Value Chain Model · v0.7.0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 Value Chain Model — DS Methods &amp; Tools</dc:title>
  <dc:subject>PptxGenJS Presentation</dc:subject>
  <dc:creator>PptxGenJS</dc:creator>
  <cp:lastModifiedBy>PptxGenJS</cp:lastModifiedBy>
  <cp:revision>1</cp:revision>
  <dcterms:created xsi:type="dcterms:W3CDTF">2026-05-24T21:38:04Z</dcterms:created>
  <dcterms:modified xsi:type="dcterms:W3CDTF">2026-05-24T21:38:04Z</dcterms:modified>
</cp:coreProperties>
</file>